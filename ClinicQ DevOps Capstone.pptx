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Inter"/>
      <ns0:bold ns1:id="rIdFont17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79cd5593-86d7-481f-9020-c2b0b867b210.fntdata" /><ns0:Relationship Id="rIdFont18" Type="http://schemas.openxmlformats.org/officeDocument/2006/relationships/font" Target="fonts/90bf9446-af00-475a-a954-17a883e7c73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0" y="4468117"/>
            <a:ext cx="7620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57625" y="2351782"/>
            <a:ext cx="4476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D9488"/>
                </a:solidFill>
                <a:latin typeface="Inter"/>
              </a:rPr>
              <a:t>DEVOPS CAPSTONE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77047" y="2704207"/>
            <a:ext cx="3237904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Inter"/>
              </a:rPr>
              <a:t>ClinicQ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843" y="3687067"/>
            <a:ext cx="5548312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94A3B8"/>
                </a:solidFill>
                <a:latin typeface="Inter"/>
              </a:rPr>
              <a:t>Automated Cloud Delivery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928937"/>
            <a:ext cx="4953000" cy="2600325"/>
          </a:xfrm>
          <a:prstGeom prst="roundRect">
            <a:avLst>
              <a:gd name="adj" fmla="val 58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3043237"/>
            <a:ext cx="4953000" cy="2371725"/>
          </a:xfrm>
          <a:prstGeom prst="roundRect">
            <a:avLst>
              <a:gd name="adj" fmla="val 64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3395662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325" y="3509962"/>
            <a:ext cx="5715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762000"/>
            <a:ext cx="1127760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The Real-World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76375"/>
            <a:ext cx="112776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64748B"/>
                </a:solidFill>
                <a:latin typeface="Inter"/>
              </a:rPr>
              <a:t>Why traditional clinic booking systems fail.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1125" y="4081462"/>
            <a:ext cx="5275659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Fragile Updates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1125" y="4605337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Manual deployments cause costly downtime.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1325" y="4195762"/>
            <a:ext cx="5275659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Inconsistent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1325" y="4719637"/>
            <a:ext cx="5024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Code breaks across different machines.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900362"/>
            <a:ext cx="3251150" cy="2228850"/>
          </a:xfrm>
          <a:prstGeom prst="roundRect">
            <a:avLst>
              <a:gd name="adj" fmla="val 68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70350" y="3000375"/>
            <a:ext cx="3251150" cy="2028825"/>
          </a:xfrm>
          <a:prstGeom prst="roundRect">
            <a:avLst>
              <a:gd name="adj" fmla="val 75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000375"/>
            <a:ext cx="3251150" cy="2028825"/>
          </a:xfrm>
          <a:prstGeom prst="roundRect">
            <a:avLst>
              <a:gd name="adj" fmla="val 75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3290887"/>
            <a:ext cx="333375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675" y="3390900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625" y="3390900"/>
            <a:ext cx="47625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762000"/>
            <a:ext cx="1127760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The Mental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8725" y="3900487"/>
            <a:ext cx="3442031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Docker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8725" y="4338637"/>
            <a:ext cx="2717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Standardized shipping containers.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4675" y="4000500"/>
            <a:ext cx="3442031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CI / 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4675" y="4438650"/>
            <a:ext cx="3278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Automated security checkpoint.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0625" y="4000500"/>
            <a:ext cx="3442031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Kubernetes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0625" y="4438650"/>
            <a:ext cx="3278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Intelligent air traffic controller.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160" y="1047750"/>
            <a:ext cx="5699670" cy="4762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60" y="1200150"/>
            <a:ext cx="5394870" cy="4457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339453"/>
            <a:ext cx="4452431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Inter"/>
              </a:rPr>
              <a:t>Local</a:t>
            </a:r>
            <a:r>
              <a:t>
</a:t>
            </a:r>
            <a:r>
              <a:rPr b="1" sz="3600" i="0" u="none">
                <a:solidFill>
                  <a:srgbClr val="0F172A"/>
                </a:solidFill>
                <a:latin typeface="Inter"/>
              </a:rPr>
              <a:t>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7300" y="2893814"/>
            <a:ext cx="389751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Spins up Postgres, FastAPI &amp; React.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7300" y="3762375"/>
            <a:ext cx="389751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Identical environment across all machines.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7300" y="4630935"/>
            <a:ext cx="3897510" cy="659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Managed entirely via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docker-compose.yml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93814"/>
            <a:ext cx="2286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D9488"/>
                </a:solidFill>
                <a:latin typeface="Inter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62375"/>
            <a:ext cx="2286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D9488"/>
                </a:solidFill>
                <a:latin typeface="Inter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30935"/>
            <a:ext cx="2286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D9488"/>
                </a:solidFill>
                <a:latin typeface="Inter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47750"/>
            <a:ext cx="5699670" cy="4762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200150"/>
            <a:ext cx="5394870" cy="4457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23670" y="1344215"/>
            <a:ext cx="4452431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Inter"/>
              </a:rPr>
              <a:t>Structured</a:t>
            </a:r>
            <a:r>
              <a:t>
</a:t>
            </a:r>
            <a:r>
              <a:rPr b="1" sz="3600" i="0" u="none">
                <a:solidFill>
                  <a:srgbClr val="0F172A"/>
                </a:solidFill>
                <a:latin typeface="Inter"/>
              </a:rPr>
              <a:t> Codebase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6570" y="2898576"/>
            <a:ext cx="389751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19 progressive, documented commits.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6570" y="3767137"/>
            <a:ext cx="3897510" cy="649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Strict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.gitignore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 blocks secret leaks.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6570" y="4645223"/>
            <a:ext cx="389751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Cleanly split into backend, frontend &amp; IaC.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670" y="2898576"/>
            <a:ext cx="2286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D9488"/>
                </a:solidFill>
                <a:latin typeface="Inter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670" y="3767137"/>
            <a:ext cx="2286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D9488"/>
                </a:solidFill>
                <a:latin typeface="Inter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670" y="4645223"/>
            <a:ext cx="2286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D9488"/>
                </a:solidFill>
                <a:latin typeface="Inter"/>
              </a:rP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933575"/>
            <a:ext cx="3149649" cy="4162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21249" y="1933575"/>
            <a:ext cx="3149649" cy="4162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8099" y="1933575"/>
            <a:ext cx="3149649" cy="4162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933575"/>
            <a:ext cx="3149649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21249" y="1933575"/>
            <a:ext cx="3149649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99" y="1933575"/>
            <a:ext cx="3149649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762000"/>
            <a:ext cx="1127760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Inter"/>
              </a:rPr>
              <a:t>Strategic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76475"/>
            <a:ext cx="413391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COMPUTE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3175"/>
            <a:ext cx="413391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AWS EKS </a:t>
            </a:r>
            <a:r>
              <a:rPr b="0" sz="2100" i="0" u="none">
                <a:solidFill>
                  <a:srgbClr val="0F172A"/>
                </a:solidFill>
                <a:latin typeface="Inter"/>
              </a:rPr>
              <a:t>vs EC2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95625"/>
            <a:ext cx="39370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Built for automated scaling.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249" y="2276475"/>
            <a:ext cx="413391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249" y="2543175"/>
            <a:ext cx="413391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Actions </a:t>
            </a:r>
            <a:r>
              <a:rPr b="0" sz="2100" i="0" u="none">
                <a:solidFill>
                  <a:srgbClr val="0F172A"/>
                </a:solidFill>
                <a:latin typeface="Inter"/>
              </a:rPr>
              <a:t>vs Jenkins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249" y="3095625"/>
            <a:ext cx="39370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Zero maintenance overhead.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99" y="2276475"/>
            <a:ext cx="40639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99" y="2543175"/>
            <a:ext cx="40639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Trivy </a:t>
            </a:r>
            <a:r>
              <a:rPr b="0" sz="2100" i="0" u="none">
                <a:solidFill>
                  <a:srgbClr val="0F172A"/>
                </a:solidFill>
                <a:latin typeface="Inter"/>
              </a:rPr>
              <a:t>vs Manual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99" y="3095625"/>
            <a:ext cx="39370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Automated vulnerability blocking.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160" y="1047750"/>
            <a:ext cx="5699670" cy="4762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60" y="1200150"/>
            <a:ext cx="5394870" cy="4457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504205"/>
            <a:ext cx="4452431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Inter"/>
              </a:rPr>
              <a:t>Automated</a:t>
            </a:r>
            <a:r>
              <a:t>
</a:t>
            </a:r>
            <a:r>
              <a:rPr b="1" sz="3600" i="0" u="none">
                <a:solidFill>
                  <a:srgbClr val="0F172A"/>
                </a:solidFill>
                <a:latin typeface="Inter"/>
              </a:rPr>
              <a:t> CI / 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7300" y="3058566"/>
            <a:ext cx="4838551" cy="3295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Passes 12/12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pytest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 cases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7300" y="3616672"/>
            <a:ext cx="389751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Trivy strictly blocks HIGH/CRITICAL CVEs.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7300" y="4485233"/>
            <a:ext cx="389751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Publishes SHA-tagged images to GHCR.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58566"/>
            <a:ext cx="2286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D9488"/>
                </a:solidFill>
                <a:latin typeface="Inter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6672"/>
            <a:ext cx="2286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D9488"/>
                </a:solidFill>
                <a:latin typeface="Inter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5233"/>
            <a:ext cx="2286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D9488"/>
                </a:solidFill>
                <a:latin typeface="Inter"/>
              </a:rP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47750"/>
            <a:ext cx="5699670" cy="4762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200150"/>
            <a:ext cx="5394870" cy="4457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23670" y="1508968"/>
            <a:ext cx="4452431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Inter"/>
              </a:rPr>
              <a:t>Production</a:t>
            </a:r>
            <a:r>
              <a:t>
</a:t>
            </a:r>
            <a:r>
              <a:rPr b="1" sz="3600" i="0" u="none">
                <a:solidFill>
                  <a:srgbClr val="0F172A"/>
                </a:solidFill>
                <a:latin typeface="Inter"/>
              </a:rPr>
              <a:t>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6570" y="3063329"/>
            <a:ext cx="4625429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AWS EKS managed via Terraform.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6570" y="3611909"/>
            <a:ext cx="389751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Custom Helm chart deploys app replicas.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6570" y="4480470"/>
            <a:ext cx="389751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0F172A"/>
                </a:solidFill>
                <a:latin typeface="Inter"/>
              </a:rPr>
              <a:t>Traffic routed via Network Load Balancer.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670" y="3063329"/>
            <a:ext cx="2286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D9488"/>
                </a:solidFill>
                <a:latin typeface="Inter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670" y="3611909"/>
            <a:ext cx="2286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D9488"/>
                </a:solidFill>
                <a:latin typeface="Inter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670" y="4480470"/>
            <a:ext cx="2286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D9488"/>
                </a:solidFill>
                <a:latin typeface="Inter"/>
              </a:rPr>
              <a:t>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90500" y="2057400"/>
            <a:ext cx="1257300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Inter"/>
              </a:rPr>
              <a:t>Measurable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8465" y="3381375"/>
            <a:ext cx="3131343" cy="990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b="1" sz="7800" i="0" u="none">
                <a:solidFill>
                  <a:srgbClr val="0D9488"/>
                </a:solidFill>
                <a:latin typeface="Inter"/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8465" y="4524375"/>
            <a:ext cx="313134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475569"/>
                </a:solidFill>
                <a:latin typeface="Inter"/>
              </a:rPr>
              <a:t>Security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31481" y="3381375"/>
            <a:ext cx="3405187" cy="990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b="1" sz="7800" i="0" u="none">
                <a:solidFill>
                  <a:srgbClr val="0D9488"/>
                </a:solidFill>
                <a:latin typeface="Inter"/>
              </a:rPr>
              <a:t>3m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31481" y="4524375"/>
            <a:ext cx="34051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475569"/>
                </a:solidFill>
                <a:latin typeface="Inter"/>
              </a:rPr>
              <a:t>Automated Release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7859" y="3381375"/>
            <a:ext cx="3536156" cy="990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b="1" sz="7800" i="0" u="none">
                <a:solidFill>
                  <a:srgbClr val="0D9488"/>
                </a:solidFill>
                <a:latin typeface="Inter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7859" y="4524375"/>
            <a:ext cx="353615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475569"/>
                </a:solidFill>
                <a:latin typeface="Inter"/>
              </a:rPr>
              <a:t>Live Observability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29396" y="3395662"/>
            <a:ext cx="6133058" cy="6096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67400" y="4462462"/>
            <a:ext cx="4572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196" y="3548062"/>
            <a:ext cx="295275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51969" y="2357437"/>
            <a:ext cx="4488060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Inter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47398" y="3567112"/>
            <a:ext cx="634472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E2E8F0"/>
                </a:solidFill>
                <a:latin typeface="monospace"/>
              </a:rPr>
              <a:t>github.com/Mehul01-Max/devops-project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